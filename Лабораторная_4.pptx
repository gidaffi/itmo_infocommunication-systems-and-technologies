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0" r:id="rId1"/>
  </p:sldMasterIdLst>
  <p:notesMasterIdLst>
    <p:notesMasterId r:id="rId12"/>
  </p:notesMasterIdLst>
  <p:handoutMasterIdLst>
    <p:handoutMasterId r:id="rId13"/>
  </p:handoutMasterIdLst>
  <p:sldIdLst>
    <p:sldId id="265" r:id="rId2"/>
    <p:sldId id="284" r:id="rId3"/>
    <p:sldId id="324" r:id="rId4"/>
    <p:sldId id="316" r:id="rId5"/>
    <p:sldId id="326" r:id="rId6"/>
    <p:sldId id="305" r:id="rId7"/>
    <p:sldId id="328" r:id="rId8"/>
    <p:sldId id="329" r:id="rId9"/>
    <p:sldId id="330" r:id="rId10"/>
    <p:sldId id="263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595315-6059-63B0-9BE8-AAFD11894995}" name="Елена Иванченко" initials="ЕИ" userId="7f7d7db965285a96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Самолетов" initials="С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72" autoAdjust="0"/>
  </p:normalViewPr>
  <p:slideViewPr>
    <p:cSldViewPr snapToGrid="0" snapToObjects="1" showGuides="1">
      <p:cViewPr varScale="1">
        <p:scale>
          <a:sx n="99" d="100"/>
          <a:sy n="99" d="100"/>
        </p:scale>
        <p:origin x="946" y="58"/>
      </p:cViewPr>
      <p:guideLst>
        <p:guide orient="horz" pos="1611"/>
        <p:guide pos="28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412975-4CFD-C441-A244-B7FD9A9579C2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D660DC-725D-2A44-9F89-74FE668A9C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254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FD1C8-470D-774F-8B40-381C3059BD4A}" type="datetimeFigureOut">
              <a:rPr lang="en-US" smtClean="0"/>
              <a:pPr/>
              <a:t>10/30/2025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9711C-DB87-6342-8123-FE7E39EB00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732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783B35-4D64-24CD-46E0-32E9FC276C40}"/>
              </a:ext>
            </a:extLst>
          </p:cNvPr>
          <p:cNvSpPr txBox="1"/>
          <p:nvPr userDrawn="1"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FEFD47-67FA-CC9C-A247-DDA306E69DC7}"/>
              </a:ext>
            </a:extLst>
          </p:cNvPr>
          <p:cNvSpPr txBox="1"/>
          <p:nvPr userDrawn="1"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74B261-5474-8217-1C1F-DF8DF956D9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A92729-C745-7CCF-6847-2DF14BA7138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 baseline="0"/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0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0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8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8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9977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kfq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400" baseline="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ru-RU" sz="2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24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20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3509715879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DC7664A4-1431-5B79-D831-F6220EA436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9A5E5274-1C05-A7BB-B9D5-BE8CD4A5E9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5FC28AB9-3129-9DBE-782C-D2B113A5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12C4E9B1-800A-20F6-E4F7-84C6B3BE946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C1609-7E48-B73D-CDA4-19FD56B59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9329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256F42A0-92A9-ED41-A4B6-1B839857D4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</p:spTree>
    <p:extLst>
      <p:ext uri="{BB962C8B-B14F-4D97-AF65-F5344CB8AC3E}">
        <p14:creationId xmlns:p14="http://schemas.microsoft.com/office/powerpoint/2010/main" val="43947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0393FA-3ECC-3158-E15E-58890F60BD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3DB0C6-E4DE-9A4B-998D-34852F1B3E9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4034559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414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36D9692A-5DC0-3DF1-F516-70164F11C5A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16" name="Текст 13">
            <a:extLst>
              <a:ext uri="{FF2B5EF4-FFF2-40B4-BE49-F238E27FC236}">
                <a16:creationId xmlns:a16="http://schemas.microsoft.com/office/drawing/2014/main" id="{C2C41F40-A63A-48C4-01DC-A4A13BB7B8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D5B27C-CA4C-7381-3F84-F0595A76C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2AA24315-FE73-04A8-D530-E746EC0C202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69578C56-72EB-AE17-C6D4-CE1E8FBA30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01893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AE2ED3E-3221-72A5-8340-4E08819C8F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19B43694-08A8-116E-FA12-468591D136C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E75CB8B0-7394-87DF-B065-6F242AB2D0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993366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98E654-ABDC-7E78-775E-43A2D6214C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D71CC7-EEA6-E9D0-68AD-36562CCF6071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254081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ABD215D-CFC7-1CAC-2144-1C4A51F1FE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569F4-01AC-6221-63B9-0F06F87F25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360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7">
            <a:extLst>
              <a:ext uri="{FF2B5EF4-FFF2-40B4-BE49-F238E27FC236}">
                <a16:creationId xmlns:a16="http://schemas.microsoft.com/office/drawing/2014/main" id="{3706F3BB-2486-D68F-6966-44BBD62CE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4" name="Текст 13">
            <a:extLst>
              <a:ext uri="{FF2B5EF4-FFF2-40B4-BE49-F238E27FC236}">
                <a16:creationId xmlns:a16="http://schemas.microsoft.com/office/drawing/2014/main" id="{49722966-1EC6-6348-3A3A-25A27C8E50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5" name="Текст 7">
            <a:extLst>
              <a:ext uri="{FF2B5EF4-FFF2-40B4-BE49-F238E27FC236}">
                <a16:creationId xmlns:a16="http://schemas.microsoft.com/office/drawing/2014/main" id="{D2BFFE86-F97D-E925-927B-0F6BBD2D6EE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6" name="Текст 13">
            <a:extLst>
              <a:ext uri="{FF2B5EF4-FFF2-40B4-BE49-F238E27FC236}">
                <a16:creationId xmlns:a16="http://schemas.microsoft.com/office/drawing/2014/main" id="{ADAF316B-52C6-704E-CB38-0E76498CD5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D888714-60F8-FF59-CB87-38F52214F9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2600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8C44632-7642-B672-30DB-BEE8EBC2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AF7BB137-1C7F-56D5-5D41-70ED6DEA4C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9C7E817-A2F7-D228-2EB2-8CC2710635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2927035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1F5CFB9-FFF2-E218-2283-FA3AC247B8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CADC5-135D-DC69-A40F-E7939EE42C8E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 b="0" baseline="0">
                <a:solidFill>
                  <a:schemeClr val="bg1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400"/>
            </a:lvl2pPr>
            <a:lvl3pPr marL="914400" indent="0">
              <a:buFont typeface="Arial" panose="020B0604020202020204" pitchFamily="34" charset="0"/>
              <a:buNone/>
              <a:defRPr sz="20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latin typeface="Golos Text" panose="020B0503020202020204"/>
              </a:rPr>
              <a:t>Основной текст слайда, ключевая формулировка</a:t>
            </a:r>
          </a:p>
        </p:txBody>
      </p:sp>
    </p:spTree>
    <p:extLst>
      <p:ext uri="{BB962C8B-B14F-4D97-AF65-F5344CB8AC3E}">
        <p14:creationId xmlns:p14="http://schemas.microsoft.com/office/powerpoint/2010/main" val="3110273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Финал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4">
            <a:extLst>
              <a:ext uri="{FF2B5EF4-FFF2-40B4-BE49-F238E27FC236}">
                <a16:creationId xmlns:a16="http://schemas.microsoft.com/office/drawing/2014/main" id="{164235EB-093A-2BDE-8127-460B61C5B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 baseline="0"/>
            </a:lvl1pPr>
            <a:lvl2pPr marL="457200" indent="0">
              <a:buFontTx/>
              <a:buNone/>
              <a:defRPr sz="1600" baseline="0"/>
            </a:lvl2pPr>
            <a:lvl3pPr marL="914400" indent="0">
              <a:buFontTx/>
              <a:buNone/>
              <a:defRPr sz="1600" baseline="0"/>
            </a:lvl3pPr>
            <a:lvl4pPr marL="1371600" indent="0">
              <a:buFontTx/>
              <a:buNone/>
              <a:defRPr sz="1600" baseline="0"/>
            </a:lvl4pPr>
            <a:lvl5pPr>
              <a:buFontTx/>
              <a:buNone/>
              <a:defRPr sz="1600" baseline="0"/>
            </a:lvl5pPr>
          </a:lstStyle>
          <a:p>
            <a:r>
              <a:rPr lang="ru-RU" sz="16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</a:t>
            </a:r>
          </a:p>
          <a:p>
            <a:endParaRPr lang="ru-RU" sz="1600" dirty="0"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6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конец списка.</a:t>
            </a:r>
          </a:p>
          <a:p>
            <a:pPr lvl="0"/>
            <a:endParaRPr lang="ru-RU" dirty="0"/>
          </a:p>
          <a:p>
            <a:pPr lvl="0"/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D6E8F6-2854-A3A1-FCCA-4BC7B8C564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405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25FAEC5-3811-8889-0016-6EA3B2AC41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CAC739FE-CC7A-A005-60BE-713B90BFE7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7999" y="17922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r>
              <a:rPr lang="ru-RU" sz="12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5" name="Текст 13">
            <a:extLst>
              <a:ext uri="{FF2B5EF4-FFF2-40B4-BE49-F238E27FC236}">
                <a16:creationId xmlns:a16="http://schemas.microsoft.com/office/drawing/2014/main" id="{0280BF47-780B-2175-23F6-FDC24D601F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6" name="Текст 7">
            <a:extLst>
              <a:ext uri="{FF2B5EF4-FFF2-40B4-BE49-F238E27FC236}">
                <a16:creationId xmlns:a16="http://schemas.microsoft.com/office/drawing/2014/main" id="{E58E80D7-3F9A-CA73-1A7E-C864B8F1B1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0171" y="3011486"/>
            <a:ext cx="3635830" cy="1573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 panose="020B0604020202020204" pitchFamily="34" charset="0"/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2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2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2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  <p:sp>
        <p:nvSpPr>
          <p:cNvPr id="7" name="Текст 13">
            <a:extLst>
              <a:ext uri="{FF2B5EF4-FFF2-40B4-BE49-F238E27FC236}">
                <a16:creationId xmlns:a16="http://schemas.microsoft.com/office/drawing/2014/main" id="{BF0BE89B-425E-821E-10AB-56C164DAED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 baseline="0">
                <a:latin typeface="Golos Text DemiBold" panose="020B0703020202020204" pitchFamily="34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4206293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F282CACE-D64E-E390-8227-23E049D60AA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FD893D5-8CB5-3E29-008C-CC0E0591AE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 baseline="0">
                <a:solidFill>
                  <a:schemeClr val="bg1"/>
                </a:solidFill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6E126262-C015-9DD6-F87F-1B632AE7449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  <a:p>
            <a:pPr marL="0" indent="0" algn="l">
              <a:buNone/>
            </a:pPr>
            <a:endParaRPr lang="en-US" sz="1400" b="1" i="0" dirty="0">
              <a:solidFill>
                <a:srgbClr val="2C2D2E"/>
              </a:solidFill>
              <a:effectLst/>
              <a:latin typeface="Golos Text" panose="020B0503020202020204"/>
            </a:endParaRPr>
          </a:p>
          <a:p>
            <a:pPr marL="0" indent="0" algn="l">
              <a:buNone/>
            </a:pPr>
            <a:r>
              <a:rPr lang="ru-RU" sz="1400" b="1" i="0" dirty="0">
                <a:solidFill>
                  <a:srgbClr val="2C2D2E"/>
                </a:solidFill>
                <a:effectLst/>
                <a:latin typeface="Golos Text" panose="020B0503020202020204"/>
              </a:rPr>
              <a:t>Начало списка: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список;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b="0" i="0" dirty="0">
                <a:solidFill>
                  <a:srgbClr val="2C2D2E"/>
                </a:solidFill>
                <a:effectLst/>
                <a:latin typeface="Golos Text" panose="020B0503020202020204"/>
              </a:rPr>
              <a:t> конец списка.</a:t>
            </a:r>
          </a:p>
        </p:txBody>
      </p:sp>
    </p:spTree>
    <p:extLst>
      <p:ext uri="{BB962C8B-B14F-4D97-AF65-F5344CB8AC3E}">
        <p14:creationId xmlns:p14="http://schemas.microsoft.com/office/powerpoint/2010/main" val="1736321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Здесь при необходимости располагается основной текст слайда, ключевая формулировка.</a:t>
            </a:r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E0DDF7E5-74E5-85B7-0EAB-6118F548A9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7936B987-FE27-33B7-4612-FDB9F2B35C6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855286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Пользовательский маке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6">
            <a:extLst>
              <a:ext uri="{FF2B5EF4-FFF2-40B4-BE49-F238E27FC236}">
                <a16:creationId xmlns:a16="http://schemas.microsoft.com/office/drawing/2014/main" id="{604BBFFB-7572-35FA-4787-0F445C5632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BFD2DD0-1A50-CC19-1239-4EE4F12EA91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73A9D63A-5180-ED0A-F619-007A1570C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r>
              <a:rPr lang="ru-RU" sz="1400" dirty="0">
                <a:latin typeface="Golos Text" panose="020B0503020202020204"/>
              </a:rPr>
              <a:t>Основной текст слайда, ключевая формулировка.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075CB2-AC7B-1521-E0C8-0618DBE0FE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591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 baseline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84827D-CE53-9591-037D-C963F1C74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AE50A46-F4A6-68CE-7C12-AA2301388718}"/>
              </a:ext>
            </a:extLst>
          </p:cNvPr>
          <p:cNvSpPr>
            <a:spLocks noGrp="1"/>
          </p:cNvSpPr>
          <p:nvPr>
            <p:ph sz="half" idx="26" hasCustomPrompt="1"/>
          </p:nvPr>
        </p:nvSpPr>
        <p:spPr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 baseline="0"/>
            </a:lvl1pPr>
            <a:lvl2pPr>
              <a:defRPr sz="1200" baseline="0"/>
            </a:lvl2pPr>
            <a:lvl3pPr>
              <a:defRPr sz="1200" baseline="0"/>
            </a:lvl3pPr>
            <a:lvl4pPr>
              <a:defRPr sz="1200" baseline="0"/>
            </a:lvl4pPr>
            <a:lvl5pPr>
              <a:defRPr sz="12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2AB405F-D2C7-9CD0-F8A2-C5B08DACE9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20D20C24-934F-4A5C-CF04-B479AF2D0D5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2">
            <a:extLst>
              <a:ext uri="{FF2B5EF4-FFF2-40B4-BE49-F238E27FC236}">
                <a16:creationId xmlns:a16="http://schemas.microsoft.com/office/drawing/2014/main" id="{2D750E3A-97C5-5CBE-A3C9-0F2565E569E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3842539"/>
      </p:ext>
    </p:extLst>
  </p:cSld>
  <p:clrMapOvr>
    <a:masterClrMapping/>
  </p:clrMapOvr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555EF72-8579-6966-364E-7EB7615097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33143" y="949330"/>
            <a:ext cx="2895600" cy="3895724"/>
          </a:xfrm>
        </p:spPr>
        <p:txBody>
          <a:bodyPr>
            <a:normAutofit/>
          </a:bodyPr>
          <a:lstStyle>
            <a:lvl1pPr marL="0" indent="0">
              <a:buNone/>
              <a:defRPr sz="1400" b="0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" name="Рисунок 2">
            <a:extLst>
              <a:ext uri="{FF2B5EF4-FFF2-40B4-BE49-F238E27FC236}">
                <a16:creationId xmlns:a16="http://schemas.microsoft.com/office/drawing/2014/main" id="{F1233E17-1183-B76E-8FDC-B4E51177D94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2">
            <a:extLst>
              <a:ext uri="{FF2B5EF4-FFF2-40B4-BE49-F238E27FC236}">
                <a16:creationId xmlns:a16="http://schemas.microsoft.com/office/drawing/2014/main" id="{D225B0AE-7C4E-EA08-3FB1-DC344CD7244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95171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F0CB042-A157-2892-A9F3-8F41034FBC2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B7890194-FBA6-DE42-AD42-307D6F999BE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274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AA1A601-605F-FFE8-0BFA-9EB221F44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46AE54EB-260E-9A56-307F-307DC6AE32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 baseline="0"/>
            </a:lvl1pPr>
            <a:lvl2pPr marL="457200" indent="0">
              <a:buNone/>
              <a:defRPr sz="1400" baseline="0"/>
            </a:lvl2pPr>
            <a:lvl3pPr marL="914400" indent="0">
              <a:buNone/>
              <a:defRPr sz="1400" baseline="0"/>
            </a:lvl3pPr>
            <a:lvl4pPr marL="1371600" indent="0">
              <a:buNone/>
              <a:defRPr sz="1400" baseline="0"/>
            </a:lvl4pPr>
            <a:lvl5pPr marL="1828800" indent="0">
              <a:buFont typeface="Arial" panose="020B0604020202020204" pitchFamily="34" charset="0"/>
              <a:buNone/>
              <a:defRPr sz="1400" baseline="0"/>
            </a:lvl5pPr>
          </a:lstStyle>
          <a:p>
            <a:pPr lvl="0"/>
            <a:r>
              <a:rPr lang="ru-RU" dirty="0"/>
              <a:t>Ключевая фраза слайда</a:t>
            </a:r>
          </a:p>
        </p:txBody>
      </p:sp>
      <p:sp>
        <p:nvSpPr>
          <p:cNvPr id="7" name="Рисунок 2">
            <a:extLst>
              <a:ext uri="{FF2B5EF4-FFF2-40B4-BE49-F238E27FC236}">
                <a16:creationId xmlns:a16="http://schemas.microsoft.com/office/drawing/2014/main" id="{20DDEE97-30A5-E948-6E23-28FB2BCF96F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095171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AAC08422-7D47-2B7E-7D28-680BC07B364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4D0F3CB7-1C07-A606-10E8-3541ED42DF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AFE5227E-AF6F-5CD4-3762-3B690A4EFA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95171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endParaRPr lang="ru-RU" dirty="0"/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F1DACFFD-7F12-BA1F-C994-00039280C0A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18188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F822C9-93DB-8981-8DE8-9669C842C9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 baseline="0">
                <a:latin typeface="Golos Text DemiBold" panose="020B0703020202020204" pitchFamily="34" charset="-52"/>
              </a:defRPr>
            </a:lvl1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ABC6181E-5380-5398-36BA-70EAD01E6B61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6C8F21F1-75B3-D8F1-2DB5-6F70F86F1DBF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276AF22E-2A7E-F9AB-5142-9D689D32BAC7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14" name="Text Placeholder 24">
            <a:extLst>
              <a:ext uri="{FF2B5EF4-FFF2-40B4-BE49-F238E27FC236}">
                <a16:creationId xmlns:a16="http://schemas.microsoft.com/office/drawing/2014/main" id="{4381B90F-578B-03FE-3E62-01B123DDCA0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0352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5" name="Text Placeholder 24">
            <a:extLst>
              <a:ext uri="{FF2B5EF4-FFF2-40B4-BE49-F238E27FC236}">
                <a16:creationId xmlns:a16="http://schemas.microsoft.com/office/drawing/2014/main" id="{78F39546-2C38-A484-9527-E82840466A9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62CF135A-DC57-BFA7-737D-7E89CABB270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 baseline="0"/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3" name="Рисунок 2">
            <a:extLst>
              <a:ext uri="{FF2B5EF4-FFF2-40B4-BE49-F238E27FC236}">
                <a16:creationId xmlns:a16="http://schemas.microsoft.com/office/drawing/2014/main" id="{F2DF9285-C300-85F5-A106-92A286165DE1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3E7EB42F-DA19-C666-2E68-46C62D129469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  <p:sp>
        <p:nvSpPr>
          <p:cNvPr id="31" name="Рисунок 2">
            <a:extLst>
              <a:ext uri="{FF2B5EF4-FFF2-40B4-BE49-F238E27FC236}">
                <a16:creationId xmlns:a16="http://schemas.microsoft.com/office/drawing/2014/main" id="{8819B960-AE2A-9E43-B370-CD1D6A1ACE8D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ru-RU" dirty="0"/>
              <a:t>Изображение</a:t>
            </a:r>
          </a:p>
        </p:txBody>
      </p:sp>
    </p:spTree>
    <p:extLst>
      <p:ext uri="{BB962C8B-B14F-4D97-AF65-F5344CB8AC3E}">
        <p14:creationId xmlns:p14="http://schemas.microsoft.com/office/powerpoint/2010/main" val="7186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D3E97-5D7A-1D29-BA55-742D76C1C8C4}"/>
              </a:ext>
            </a:extLst>
          </p:cNvPr>
          <p:cNvSpPr txBox="1"/>
          <p:nvPr userDrawn="1"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78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72" r:id="rId2"/>
    <p:sldLayoutId id="2147483885" r:id="rId3"/>
    <p:sldLayoutId id="2147483877" r:id="rId4"/>
    <p:sldLayoutId id="2147483891" r:id="rId5"/>
    <p:sldLayoutId id="2147483883" r:id="rId6"/>
    <p:sldLayoutId id="2147483873" r:id="rId7"/>
    <p:sldLayoutId id="2147483888" r:id="rId8"/>
    <p:sldLayoutId id="2147483892" r:id="rId9"/>
    <p:sldLayoutId id="2147483874" r:id="rId10"/>
    <p:sldLayoutId id="2147483886" r:id="rId11"/>
    <p:sldLayoutId id="2147483889" r:id="rId12"/>
    <p:sldLayoutId id="2147483893" r:id="rId13"/>
    <p:sldLayoutId id="2147483879" r:id="rId14"/>
    <p:sldLayoutId id="2147483887" r:id="rId15"/>
    <p:sldLayoutId id="2147483890" r:id="rId16"/>
    <p:sldLayoutId id="2147483880" r:id="rId17"/>
    <p:sldLayoutId id="2147483894" r:id="rId18"/>
    <p:sldLayoutId id="2147483875" r:id="rId19"/>
    <p:sldLayoutId id="2147483881" r:id="rId20"/>
    <p:sldLayoutId id="2147483882" r:id="rId21"/>
    <p:sldLayoutId id="2147483706" r:id="rId22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b="1" i="0" kern="1200" baseline="0">
          <a:solidFill>
            <a:schemeClr val="tx1"/>
          </a:solidFill>
          <a:latin typeface="ALS Gorizont Bold Expanded" panose="00000805000000000000" pitchFamily="50" charset="0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spcBef>
          <a:spcPct val="20000"/>
        </a:spcBef>
        <a:buSzPct val="100000"/>
        <a:buFont typeface="Arial" panose="020B0604020202020204" pitchFamily="34" charset="0"/>
        <a:buNone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4pPr>
      <a:lvl5pPr marL="1828800" indent="0" algn="l" defTabSz="457200" rtl="0" eaLnBrk="1" latinLnBrk="0" hangingPunct="1">
        <a:spcBef>
          <a:spcPct val="200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Golos Text" panose="020B0503020202020204" pitchFamily="34" charset="-52"/>
          <a:ea typeface="+mn-ea"/>
          <a:cs typeface="Golos Text" panose="020B0503020202020204" pitchFamily="34" charset="-52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371600" y="2442525"/>
            <a:ext cx="6400800" cy="704850"/>
          </a:xfrm>
        </p:spPr>
        <p:txBody>
          <a:bodyPr>
            <a:noAutofit/>
          </a:bodyPr>
          <a:lstStyle/>
          <a:p>
            <a:pPr algn="ctr"/>
            <a:r>
              <a:rPr lang="ru-RU" sz="4400" dirty="0">
                <a:solidFill>
                  <a:schemeClr val="bg1"/>
                </a:solidFill>
              </a:rPr>
              <a:t>Приложение </a:t>
            </a:r>
            <a:br>
              <a:rPr lang="en-US" sz="4400" dirty="0">
                <a:solidFill>
                  <a:schemeClr val="bg1"/>
                </a:solidFill>
              </a:rPr>
            </a:br>
            <a:r>
              <a:rPr lang="en-US" sz="4400" dirty="0">
                <a:solidFill>
                  <a:schemeClr val="bg1"/>
                </a:solidFill>
              </a:rPr>
              <a:t>«Spend-Wise»</a:t>
            </a:r>
          </a:p>
        </p:txBody>
      </p:sp>
      <p:sp>
        <p:nvSpPr>
          <p:cNvPr id="3" name="مربع نص 2">
            <a:extLst>
              <a:ext uri="{FF2B5EF4-FFF2-40B4-BE49-F238E27FC236}">
                <a16:creationId xmlns:a16="http://schemas.microsoft.com/office/drawing/2014/main" id="{6AD4C861-8DE0-1EAD-C288-DE74A84CCAF0}"/>
              </a:ext>
            </a:extLst>
          </p:cNvPr>
          <p:cNvSpPr txBox="1"/>
          <p:nvPr/>
        </p:nvSpPr>
        <p:spPr>
          <a:xfrm>
            <a:off x="6623136" y="3754056"/>
            <a:ext cx="27964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Обучающийся</a:t>
            </a:r>
          </a:p>
          <a:p>
            <a:r>
              <a:rPr lang="ru-RU" b="1" dirty="0">
                <a:solidFill>
                  <a:schemeClr val="bg1"/>
                </a:solidFill>
              </a:rPr>
              <a:t>Алмахаррис Хаммам Салим Мохаммед</a:t>
            </a:r>
            <a:br>
              <a:rPr lang="ru-RU" b="1" dirty="0">
                <a:solidFill>
                  <a:schemeClr val="bg1"/>
                </a:solidFill>
              </a:rPr>
            </a:b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3EAA57BD-E6BC-21EA-80AF-C99892E3BBC0}"/>
              </a:ext>
            </a:extLst>
          </p:cNvPr>
          <p:cNvSpPr txBox="1"/>
          <p:nvPr/>
        </p:nvSpPr>
        <p:spPr>
          <a:xfrm>
            <a:off x="1584543" y="4681835"/>
            <a:ext cx="59749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ru-RU" sz="1800" b="1" i="0" u="none" strike="noStrike" dirty="0">
                <a:solidFill>
                  <a:srgbClr val="FFFFFF"/>
                </a:solidFill>
                <a:effectLst/>
                <a:latin typeface="Golos Text" panose="020B0503020202020204"/>
              </a:rPr>
              <a:t>Санкт-Петербург </a:t>
            </a:r>
            <a:r>
              <a:rPr lang="ru-RU" b="1" dirty="0">
                <a:solidFill>
                  <a:srgbClr val="FFFFFF"/>
                </a:solidFill>
                <a:latin typeface="Golos Text" panose="020B0503020202020204"/>
              </a:rPr>
              <a:t>29</a:t>
            </a:r>
            <a:r>
              <a:rPr lang="ru-RU" sz="1800" b="1" i="0" u="none" strike="noStrike" dirty="0">
                <a:solidFill>
                  <a:srgbClr val="FFFFFF"/>
                </a:solidFill>
                <a:effectLst/>
                <a:latin typeface="Golos Text" panose="020B0503020202020204"/>
              </a:rPr>
              <a:t> </a:t>
            </a:r>
            <a:r>
              <a:rPr lang="ru-RU" sz="1800" i="0" u="none" strike="noStrike" dirty="0">
                <a:solidFill>
                  <a:srgbClr val="FFFFFF"/>
                </a:solidFill>
                <a:effectLst/>
                <a:latin typeface="Golos Text" panose="020B0503020202020204"/>
              </a:rPr>
              <a:t>октября</a:t>
            </a:r>
            <a:r>
              <a:rPr lang="ru-RU" sz="1800" b="1" i="0" u="none" strike="noStrike" dirty="0">
                <a:solidFill>
                  <a:srgbClr val="FFFFFF"/>
                </a:solidFill>
                <a:effectLst/>
                <a:latin typeface="Golos Text" panose="020B0503020202020204"/>
              </a:rPr>
              <a:t> 2025</a:t>
            </a:r>
            <a:endParaRPr lang="ru-RU" b="1" dirty="0">
              <a:effectLst/>
            </a:endParaRPr>
          </a:p>
          <a:p>
            <a:pPr>
              <a:buNone/>
            </a:pPr>
            <a:br>
              <a:rPr lang="ru-RU" dirty="0"/>
            </a:b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87172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D3B5E-9456-C8A4-07A4-95C3DB982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Содержание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FEF9A1-78B4-FD4E-6902-56D70310F4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sz="2400" dirty="0"/>
              <a:t>Проблема</a:t>
            </a:r>
            <a:endParaRPr lang="ru-RU" sz="2400" dirty="0">
              <a:solidFill>
                <a:srgbClr val="2C2D2E"/>
              </a:solidFill>
              <a:latin typeface="Golos Text" panose="020B0503020202020204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400" dirty="0"/>
              <a:t>Решение</a:t>
            </a:r>
            <a:endParaRPr lang="ru-RU" sz="2400" dirty="0">
              <a:solidFill>
                <a:srgbClr val="2C2D2E"/>
              </a:solidFill>
              <a:latin typeface="Golos Text" panose="020B0503020202020204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400" dirty="0"/>
              <a:t>Ключевые функции</a:t>
            </a:r>
            <a:endParaRPr lang="ru-RU" sz="2400" dirty="0">
              <a:solidFill>
                <a:srgbClr val="2C2D2E"/>
              </a:solidFill>
              <a:latin typeface="Golos Text" panose="020B0503020202020204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400" dirty="0"/>
              <a:t>Прототип интерфейса</a:t>
            </a:r>
            <a:endParaRPr lang="ru-RU" sz="2400" dirty="0">
              <a:solidFill>
                <a:srgbClr val="2C2D2E"/>
              </a:solidFill>
              <a:latin typeface="Golos Text" panose="020B0503020202020204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400" dirty="0"/>
              <a:t>Сравнительный анализ</a:t>
            </a:r>
            <a:endParaRPr lang="ru-RU" sz="2400" dirty="0">
              <a:solidFill>
                <a:srgbClr val="2C2D2E"/>
              </a:solidFill>
              <a:latin typeface="Golos Text" panose="020B0503020202020204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2400" dirty="0"/>
              <a:t>Целевая аудитория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2400" dirty="0"/>
              <a:t>Заключение</a:t>
            </a:r>
            <a:br>
              <a:rPr lang="ru-RU" sz="2400" dirty="0"/>
            </a:b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287535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2BEA39AC-0C16-00A4-A7D1-16251640B1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0" y="1315035"/>
            <a:ext cx="8607569" cy="3410856"/>
          </a:xfrm>
        </p:spPr>
        <p:txBody>
          <a:bodyPr>
            <a:normAutofit/>
          </a:bodyPr>
          <a:lstStyle/>
          <a:p>
            <a:r>
              <a:rPr lang="ru-RU" sz="2000" dirty="0"/>
              <a:t>Миллионы людей теряют деньги из-за хаотичных трат и просроченных счетов; данные разрознены, напоминания срываютс</a:t>
            </a:r>
            <a:r>
              <a:rPr lang="en-US" sz="2000" dirty="0"/>
              <a:t>:</a:t>
            </a:r>
          </a:p>
          <a:p>
            <a:r>
              <a:rPr lang="ru-RU" sz="2000" dirty="0"/>
              <a:t>   </a:t>
            </a:r>
            <a:r>
              <a:rPr lang="ar-SA" sz="2000" dirty="0"/>
              <a:t>» </a:t>
            </a:r>
            <a:r>
              <a:rPr lang="ru-RU" sz="2000" dirty="0"/>
              <a:t>Куда уходят деньги? </a:t>
            </a:r>
            <a:r>
              <a:rPr lang="ar-SA" sz="2000" dirty="0"/>
              <a:t>«</a:t>
            </a:r>
            <a:endParaRPr lang="ru-RU" sz="2000" dirty="0"/>
          </a:p>
          <a:p>
            <a:r>
              <a:rPr lang="ru-RU" sz="2000" dirty="0"/>
              <a:t>   </a:t>
            </a:r>
            <a:r>
              <a:rPr lang="ar-SA" sz="2000" dirty="0"/>
              <a:t>» </a:t>
            </a:r>
            <a:r>
              <a:rPr lang="ru-RU" sz="2000" dirty="0"/>
              <a:t>Ежедневный кофе — это инвестиция в долгую продуктивность?</a:t>
            </a:r>
            <a:r>
              <a:rPr lang="ar-SA" sz="2000" dirty="0"/>
              <a:t> «</a:t>
            </a:r>
            <a:r>
              <a:rPr lang="ru-RU" sz="2000" dirty="0"/>
              <a:t> </a:t>
            </a:r>
          </a:p>
          <a:p>
            <a:r>
              <a:rPr lang="ru-RU" sz="2000" dirty="0"/>
              <a:t>   </a:t>
            </a:r>
            <a:r>
              <a:rPr lang="ar-SA" sz="2000" dirty="0"/>
              <a:t>» </a:t>
            </a:r>
            <a:r>
              <a:rPr lang="ru-RU" sz="2000" dirty="0"/>
              <a:t>Почему абонемент в спортзал — самая активная операция в моём      банке?</a:t>
            </a:r>
            <a:r>
              <a:rPr lang="ar-SA" sz="2000" dirty="0"/>
              <a:t> « </a:t>
            </a:r>
          </a:p>
          <a:p>
            <a:r>
              <a:rPr lang="ru-RU" sz="2000" dirty="0"/>
              <a:t>Решения фрагментированы: учёт, бюджеты и напоминания — раздельно</a:t>
            </a:r>
            <a:r>
              <a:rPr lang="ru-RU" dirty="0"/>
              <a:t>.</a:t>
            </a:r>
            <a:r>
              <a:rPr lang="ar-SA" dirty="0"/>
              <a:t> </a:t>
            </a:r>
            <a:endParaRPr lang="en-US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BD03A893-ECFA-DEED-F342-DE63BD722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Проблема</a:t>
            </a:r>
          </a:p>
        </p:txBody>
      </p:sp>
    </p:spTree>
    <p:extLst>
      <p:ext uri="{BB962C8B-B14F-4D97-AF65-F5344CB8AC3E}">
        <p14:creationId xmlns:p14="http://schemas.microsoft.com/office/powerpoint/2010/main" val="3962654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EA915A35-EC87-76A1-7F8F-9378EFC6B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Решение -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/>
              <a:t>Spend-Wise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F7CD16-D4EE-5D1A-67C6-8FC838F976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08171" y="1153887"/>
            <a:ext cx="2921845" cy="3292854"/>
          </a:xfrm>
        </p:spPr>
        <p:txBody>
          <a:bodyPr>
            <a:normAutofit fontScale="25000" lnSpcReduction="20000"/>
          </a:bodyPr>
          <a:lstStyle/>
          <a:p>
            <a:r>
              <a:rPr lang="ru-RU" sz="7200" b="1" dirty="0"/>
              <a:t>Единая платформа,</a:t>
            </a:r>
            <a:r>
              <a:rPr lang="ru-RU" sz="7200" dirty="0"/>
              <a:t> учёта расходов, бюджетов и дедлайнов, </a:t>
            </a:r>
          </a:p>
          <a:p>
            <a:r>
              <a:rPr lang="ru-RU" sz="7200" b="1" dirty="0"/>
              <a:t>Ключевая миссия:</a:t>
            </a:r>
            <a:r>
              <a:rPr lang="ru-RU" sz="7200" dirty="0"/>
              <a:t>  Сделать финансовую дисциплину простой и ежедневной. </a:t>
            </a:r>
          </a:p>
          <a:p>
            <a:r>
              <a:rPr lang="ru-RU" sz="7200" b="1" dirty="0"/>
              <a:t>Отличие</a:t>
            </a:r>
            <a:r>
              <a:rPr lang="en-US" sz="7200" dirty="0"/>
              <a:t>:</a:t>
            </a:r>
            <a:r>
              <a:rPr lang="ru-RU" sz="7200" dirty="0"/>
              <a:t> Многоуровневые напоминания (за 3 дня / 1 день / 1 час) + список «Пропущено» + экспорт отчётов.</a:t>
            </a:r>
          </a:p>
          <a:p>
            <a:br>
              <a:rPr lang="ru-RU" dirty="0"/>
            </a:br>
            <a:endParaRPr lang="ru-RU" dirty="0"/>
          </a:p>
        </p:txBody>
      </p:sp>
      <p:pic>
        <p:nvPicPr>
          <p:cNvPr id="8" name="عنصر نائب للصورة 7">
            <a:extLst>
              <a:ext uri="{FF2B5EF4-FFF2-40B4-BE49-F238E27FC236}">
                <a16:creationId xmlns:a16="http://schemas.microsoft.com/office/drawing/2014/main" id="{C905CB4A-5715-51DC-FFB1-4C975B542B4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tretch>
            <a:fillRect/>
          </a:stretch>
        </p:blipFill>
        <p:spPr>
          <a:xfrm>
            <a:off x="457200" y="951978"/>
            <a:ext cx="3889332" cy="3795132"/>
          </a:xfrm>
        </p:spPr>
      </p:pic>
    </p:spTree>
    <p:extLst>
      <p:ext uri="{BB962C8B-B14F-4D97-AF65-F5344CB8AC3E}">
        <p14:creationId xmlns:p14="http://schemas.microsoft.com/office/powerpoint/2010/main" val="3833283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00958-443E-B645-2DA9-A95D1D1D3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538BDD-E19E-4530-21B9-D96AFD06D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Ключевые 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72E8BF-6431-608A-8BDF-DF8EEC4BCE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11943"/>
            <a:ext cx="8012624" cy="362512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2000" b="1" dirty="0"/>
              <a:t>Быстрый ввод </a:t>
            </a:r>
            <a:r>
              <a:rPr lang="ru-RU" sz="2000" dirty="0"/>
              <a:t>операций (Quick Add) и шаблоны;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 </a:t>
            </a:r>
            <a:r>
              <a:rPr lang="ru-RU" sz="2000" b="1" dirty="0"/>
              <a:t>Бюджеты</a:t>
            </a:r>
            <a:r>
              <a:rPr lang="ru-RU" sz="2000" dirty="0"/>
              <a:t> с лимитами и статусами: В пределах / На грани / Превышен;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b="1" dirty="0"/>
              <a:t>Напоминания</a:t>
            </a:r>
            <a:r>
              <a:rPr lang="ru-RU" sz="2000" dirty="0"/>
              <a:t> о счетах: 3д/1д/1ч, действия «Оплачено/Отложить», список «Пропущено»;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 </a:t>
            </a:r>
            <a:r>
              <a:rPr lang="ru-RU" sz="2000" b="1" dirty="0"/>
              <a:t>Отчёты</a:t>
            </a:r>
            <a:r>
              <a:rPr lang="ru-RU" sz="2000" dirty="0"/>
              <a:t> и экспорт: по категориям, неделя/месяц, PDF/CSV;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/>
              <a:t> </a:t>
            </a:r>
            <a:r>
              <a:rPr lang="ru-RU" sz="2000" b="1" dirty="0"/>
              <a:t>Локализация</a:t>
            </a:r>
            <a:r>
              <a:rPr lang="ru-RU" sz="2000" dirty="0"/>
              <a:t>: выбор языка и валюты, корректные форматы дат/символов; 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b="1" dirty="0"/>
              <a:t>Облачное</a:t>
            </a:r>
            <a:r>
              <a:rPr lang="ru-RU" sz="2000" dirty="0"/>
              <a:t> резервное копирование настроек и данных</a:t>
            </a:r>
          </a:p>
        </p:txBody>
      </p:sp>
    </p:spTree>
    <p:extLst>
      <p:ext uri="{BB962C8B-B14F-4D97-AF65-F5344CB8AC3E}">
        <p14:creationId xmlns:p14="http://schemas.microsoft.com/office/powerpoint/2010/main" val="2657132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عنصر نائب للمحتوى 8" descr="صورة تحتوي على نص, لقطة شاشة, الهاتف النقال, جهاز محمول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BC02221C-8635-D7CF-771A-4188AC100AB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672810" y="1279240"/>
            <a:ext cx="1800853" cy="3816000"/>
          </a:xfrm>
        </p:spPr>
      </p:pic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78D7015-8078-E895-F588-5053D801C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3524"/>
            <a:ext cx="6824382" cy="527284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Прототип интерфейса</a:t>
            </a:r>
            <a:endParaRPr lang="ru-RU" sz="2600" dirty="0"/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D7118856-E592-0195-5582-5C1F400C1362}"/>
              </a:ext>
            </a:extLst>
          </p:cNvPr>
          <p:cNvSpPr txBox="1"/>
          <p:nvPr/>
        </p:nvSpPr>
        <p:spPr>
          <a:xfrm>
            <a:off x="3412334" y="2162704"/>
            <a:ext cx="50041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b="0" dirty="0">
                <a:effectLst/>
              </a:rPr>
              <a:t> </a:t>
            </a:r>
            <a:endParaRPr lang="ar-SA" dirty="0"/>
          </a:p>
        </p:txBody>
      </p:sp>
      <p:pic>
        <p:nvPicPr>
          <p:cNvPr id="11" name="صورة 10" descr="صورة تحتوي على نص, لقطة شاشة, الهاتف النقال, جهاز اتصال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7A5CB3B4-016E-2C05-39E9-2F59EDF82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487" y="1439730"/>
            <a:ext cx="2942819" cy="3816000"/>
          </a:xfrm>
          <a:prstGeom prst="rect">
            <a:avLst/>
          </a:prstGeom>
        </p:spPr>
      </p:pic>
      <p:pic>
        <p:nvPicPr>
          <p:cNvPr id="13" name="صورة 12" descr="صورة تحتوي على نص, لقطة شاشة, الهاتف النقال, جهاز اتصال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109EBCBB-D45C-528C-AE12-2336D63A16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360" y="1439730"/>
            <a:ext cx="2728153" cy="3715200"/>
          </a:xfrm>
          <a:prstGeom prst="rect">
            <a:avLst/>
          </a:prstGeom>
        </p:spPr>
      </p:pic>
      <p:sp>
        <p:nvSpPr>
          <p:cNvPr id="15" name="مربع نص 14">
            <a:extLst>
              <a:ext uri="{FF2B5EF4-FFF2-40B4-BE49-F238E27FC236}">
                <a16:creationId xmlns:a16="http://schemas.microsoft.com/office/drawing/2014/main" id="{3357249A-34BB-810C-B16B-3DF4B90C2C62}"/>
              </a:ext>
            </a:extLst>
          </p:cNvPr>
          <p:cNvSpPr txBox="1"/>
          <p:nvPr/>
        </p:nvSpPr>
        <p:spPr>
          <a:xfrm>
            <a:off x="3003513" y="670655"/>
            <a:ext cx="322849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/>
              <a:t>Главная: «Ваши Расходы», </a:t>
            </a:r>
          </a:p>
          <a:p>
            <a:pPr algn="ctr"/>
            <a:r>
              <a:rPr lang="ru-RU" sz="1600" b="1" dirty="0"/>
              <a:t>«Быстро Добавить Покупку</a:t>
            </a:r>
            <a:r>
              <a:rPr lang="ru-RU" b="1" dirty="0"/>
              <a:t>»</a:t>
            </a:r>
            <a:endParaRPr lang="ar-SA" b="1" dirty="0"/>
          </a:p>
        </p:txBody>
      </p:sp>
      <p:sp>
        <p:nvSpPr>
          <p:cNvPr id="17" name="مربع نص 16">
            <a:extLst>
              <a:ext uri="{FF2B5EF4-FFF2-40B4-BE49-F238E27FC236}">
                <a16:creationId xmlns:a16="http://schemas.microsoft.com/office/drawing/2014/main" id="{EC82B053-4A2F-CBE6-F631-BD804792C33D}"/>
              </a:ext>
            </a:extLst>
          </p:cNvPr>
          <p:cNvSpPr txBox="1"/>
          <p:nvPr/>
        </p:nvSpPr>
        <p:spPr>
          <a:xfrm>
            <a:off x="715690" y="854955"/>
            <a:ext cx="24765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/>
              <a:t>Настройки: язык/валюта, «Сохранить настройки».</a:t>
            </a:r>
            <a:endParaRPr lang="ar-SA" sz="1600" b="1" dirty="0"/>
          </a:p>
        </p:txBody>
      </p:sp>
      <p:sp>
        <p:nvSpPr>
          <p:cNvPr id="19" name="مربع نص 18">
            <a:extLst>
              <a:ext uri="{FF2B5EF4-FFF2-40B4-BE49-F238E27FC236}">
                <a16:creationId xmlns:a16="http://schemas.microsoft.com/office/drawing/2014/main" id="{5F7949FF-FCE2-DE8E-5B0F-C6403A4DA0A3}"/>
              </a:ext>
            </a:extLst>
          </p:cNvPr>
          <p:cNvSpPr txBox="1"/>
          <p:nvPr/>
        </p:nvSpPr>
        <p:spPr>
          <a:xfrm>
            <a:off x="5951812" y="882711"/>
            <a:ext cx="27281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1" dirty="0"/>
              <a:t>Главная: «По категориям», «Экспорт отчёта».</a:t>
            </a:r>
            <a:endParaRPr lang="ar-SA" sz="1600" b="1" dirty="0"/>
          </a:p>
        </p:txBody>
      </p:sp>
    </p:spTree>
    <p:extLst>
      <p:ext uri="{BB962C8B-B14F-4D97-AF65-F5344CB8AC3E}">
        <p14:creationId xmlns:p14="http://schemas.microsoft.com/office/powerpoint/2010/main" val="350182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عنصر نائب للمحتوى 1">
            <a:extLst>
              <a:ext uri="{FF2B5EF4-FFF2-40B4-BE49-F238E27FC236}">
                <a16:creationId xmlns:a16="http://schemas.microsoft.com/office/drawing/2014/main" id="{37A579C2-592F-6268-FA7C-4B1C0B2A081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732889025"/>
              </p:ext>
            </p:extLst>
          </p:nvPr>
        </p:nvGraphicFramePr>
        <p:xfrm>
          <a:off x="241960" y="733757"/>
          <a:ext cx="8660079" cy="53035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382658">
                  <a:extLst>
                    <a:ext uri="{9D8B030D-6E8A-4147-A177-3AD203B41FA5}">
                      <a16:colId xmlns:a16="http://schemas.microsoft.com/office/drawing/2014/main" val="440539545"/>
                    </a:ext>
                  </a:extLst>
                </a:gridCol>
                <a:gridCol w="1935241">
                  <a:extLst>
                    <a:ext uri="{9D8B030D-6E8A-4147-A177-3AD203B41FA5}">
                      <a16:colId xmlns:a16="http://schemas.microsoft.com/office/drawing/2014/main" val="2799159007"/>
                    </a:ext>
                  </a:extLst>
                </a:gridCol>
                <a:gridCol w="1658950">
                  <a:extLst>
                    <a:ext uri="{9D8B030D-6E8A-4147-A177-3AD203B41FA5}">
                      <a16:colId xmlns:a16="http://schemas.microsoft.com/office/drawing/2014/main" val="172414495"/>
                    </a:ext>
                  </a:extLst>
                </a:gridCol>
                <a:gridCol w="1658950">
                  <a:extLst>
                    <a:ext uri="{9D8B030D-6E8A-4147-A177-3AD203B41FA5}">
                      <a16:colId xmlns:a16="http://schemas.microsoft.com/office/drawing/2014/main" val="3885458622"/>
                    </a:ext>
                  </a:extLst>
                </a:gridCol>
                <a:gridCol w="2024280">
                  <a:extLst>
                    <a:ext uri="{9D8B030D-6E8A-4147-A177-3AD203B41FA5}">
                      <a16:colId xmlns:a16="http://schemas.microsoft.com/office/drawing/2014/main" val="2066682528"/>
                    </a:ext>
                  </a:extLst>
                </a:gridCol>
              </a:tblGrid>
              <a:tr h="286777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Spend-Wise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Spendee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Monefy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Pocket Guard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YNAB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3097447"/>
                  </a:ext>
                </a:extLst>
              </a:tr>
              <a:tr h="286777">
                <a:tc>
                  <a:txBody>
                    <a:bodyPr/>
                    <a:lstStyle/>
                    <a:p>
                      <a:pPr rtl="1"/>
                      <a:r>
                        <a:rPr lang="ru-RU" dirty="0"/>
                        <a:t>Да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ru-RU" dirty="0"/>
                        <a:t>Базово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ru-RU" dirty="0"/>
                        <a:t>Базово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ru-RU" dirty="0"/>
                        <a:t>Сильные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ru-RU" dirty="0"/>
                        <a:t>Бюджеты и цели</a:t>
                      </a:r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1762381"/>
                  </a:ext>
                </a:extLst>
              </a:tr>
              <a:tr h="501860">
                <a:tc>
                  <a:txBody>
                    <a:bodyPr/>
                    <a:lstStyle/>
                    <a:p>
                      <a:pPr rtl="1"/>
                      <a:r>
                        <a:rPr lang="ru-RU" dirty="0"/>
                        <a:t>Базово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ru-RU" dirty="0"/>
                        <a:t>Ограниченно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ru-RU" dirty="0"/>
                        <a:t>Базово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ru-RU" dirty="0"/>
                        <a:t>Базово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ru-RU" dirty="0"/>
                        <a:t>Напоминания о счётах </a:t>
                      </a:r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940083"/>
                  </a:ext>
                </a:extLst>
              </a:tr>
              <a:tr h="501860">
                <a:tc>
                  <a:txBody>
                    <a:bodyPr/>
                    <a:lstStyle/>
                    <a:p>
                      <a:pPr rtl="1"/>
                      <a:r>
                        <a:rPr lang="ru-RU" dirty="0"/>
                        <a:t>да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ru-RU" dirty="0"/>
                        <a:t>Нет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ru-RU" dirty="0"/>
                        <a:t>Нет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ru-RU" dirty="0"/>
                        <a:t>Нет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ru-RU" dirty="0"/>
                        <a:t>Авто-дедлайны по событиям </a:t>
                      </a:r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647252"/>
                  </a:ext>
                </a:extLst>
              </a:tr>
              <a:tr h="501860">
                <a:tc>
                  <a:txBody>
                    <a:bodyPr/>
                    <a:lstStyle/>
                    <a:p>
                      <a:pPr rtl="1"/>
                      <a:r>
                        <a:rPr lang="ru-RU" dirty="0"/>
                        <a:t>Быстрые шаблоны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ru-RU" dirty="0"/>
                        <a:t>Ограниченно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ru-RU" dirty="0"/>
                        <a:t>Ограниченно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ru-RU" dirty="0"/>
                        <a:t>Есть 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ru-RU" dirty="0"/>
                        <a:t>Шаблоны / </a:t>
                      </a:r>
                      <a:r>
                        <a:rPr lang="en-US" dirty="0"/>
                        <a:t>Quick Add</a:t>
                      </a:r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259159"/>
                  </a:ext>
                </a:extLst>
              </a:tr>
              <a:tr h="286777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PDF/CSV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ru-RU" dirty="0"/>
                        <a:t>Есть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ru-RU" dirty="0"/>
                        <a:t>Ограниченно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ru-RU" dirty="0"/>
                        <a:t>Да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ru-RU" dirty="0"/>
                        <a:t>Отчёты / экспорт </a:t>
                      </a:r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541433"/>
                  </a:ext>
                </a:extLst>
              </a:tr>
              <a:tr h="707516">
                <a:tc>
                  <a:txBody>
                    <a:bodyPr/>
                    <a:lstStyle/>
                    <a:p>
                      <a:pPr rtl="1"/>
                      <a:r>
                        <a:rPr lang="ru-RU" dirty="0"/>
                        <a:t>Полная (язык+валюта) 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ru-RU" dirty="0"/>
                        <a:t>Ограниченно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ru-RU" dirty="0"/>
                        <a:t>Ограниченно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ru-RU" dirty="0"/>
                        <a:t>Есть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ru-RU" dirty="0"/>
                        <a:t>Локализация (язык/валюта) </a:t>
                      </a:r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592409"/>
                  </a:ext>
                </a:extLst>
              </a:tr>
              <a:tr h="286777">
                <a:tc>
                  <a:txBody>
                    <a:bodyPr/>
                    <a:lstStyle/>
                    <a:p>
                      <a:pPr rtl="1"/>
                      <a:r>
                        <a:rPr lang="ru-RU"/>
                        <a:t>Есть</a:t>
                      </a:r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ru-RU"/>
                        <a:t>Есть</a:t>
                      </a:r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ru-RU"/>
                        <a:t>Есть</a:t>
                      </a:r>
                      <a:endParaRPr lang="ar-S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ru-RU" dirty="0"/>
                        <a:t>Есть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ru-RU" dirty="0"/>
                        <a:t>Облако и бэкап</a:t>
                      </a:r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276552"/>
                  </a:ext>
                </a:extLst>
              </a:tr>
              <a:tr h="501860">
                <a:tc>
                  <a:txBody>
                    <a:bodyPr/>
                    <a:lstStyle/>
                    <a:p>
                      <a:pPr marL="0" marR="0" lvl="0" indent="0" algn="l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Да</a:t>
                      </a:r>
                      <a:endParaRPr lang="ar-SA" dirty="0"/>
                    </a:p>
                    <a:p>
                      <a:pPr rtl="1"/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Да</a:t>
                      </a:r>
                      <a:endParaRPr lang="ar-SA" dirty="0"/>
                    </a:p>
                    <a:p>
                      <a:pPr rtl="1"/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ru-RU" dirty="0"/>
                        <a:t>Ограниченно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Да</a:t>
                      </a:r>
                      <a:endParaRPr lang="ar-SA" dirty="0"/>
                    </a:p>
                    <a:p>
                      <a:pPr rtl="1"/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ru-RU" dirty="0"/>
                        <a:t>Кастомные категории/теги</a:t>
                      </a:r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3484116"/>
                  </a:ext>
                </a:extLst>
              </a:tr>
              <a:tr h="286777"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free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free+paid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 err="1"/>
                        <a:t>free+paid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dirty="0"/>
                        <a:t>paid</a:t>
                      </a:r>
                      <a:endParaRPr lang="ar-S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ru-RU" dirty="0"/>
                        <a:t>Модель оплаты </a:t>
                      </a:r>
                      <a:endParaRPr lang="ar-S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523008"/>
                  </a:ext>
                </a:extLst>
              </a:tr>
            </a:tbl>
          </a:graphicData>
        </a:graphic>
      </p:graphicFrame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78D7015-8078-E895-F588-5053D801C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82" y="135656"/>
            <a:ext cx="6824382" cy="527284"/>
          </a:xfrm>
        </p:spPr>
        <p:txBody>
          <a:bodyPr>
            <a:normAutofit/>
          </a:bodyPr>
          <a:lstStyle/>
          <a:p>
            <a:r>
              <a:rPr lang="ru-RU" sz="2800" dirty="0"/>
              <a:t>  Сравнительный анализ</a:t>
            </a:r>
            <a:endParaRPr lang="ru-RU" sz="2800" dirty="0">
              <a:solidFill>
                <a:srgbClr val="2C2D2E"/>
              </a:solidFill>
              <a:latin typeface="Golos Text" panose="020B0503020202020204"/>
            </a:endParaRPr>
          </a:p>
        </p:txBody>
      </p:sp>
      <p:sp>
        <p:nvSpPr>
          <p:cNvPr id="5" name="مربع نص 4">
            <a:extLst>
              <a:ext uri="{FF2B5EF4-FFF2-40B4-BE49-F238E27FC236}">
                <a16:creationId xmlns:a16="http://schemas.microsoft.com/office/drawing/2014/main" id="{B95FA182-5181-D1A2-F92A-1E9D5AEE477B}"/>
              </a:ext>
            </a:extLst>
          </p:cNvPr>
          <p:cNvSpPr txBox="1"/>
          <p:nvPr/>
        </p:nvSpPr>
        <p:spPr>
          <a:xfrm>
            <a:off x="1639957" y="2386255"/>
            <a:ext cx="50026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b="0" dirty="0">
                <a:effectLst/>
              </a:rPr>
              <a:t> 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710246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6F3C0-3681-6BF9-944A-D2F9EFE58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B90699AC-7B60-EFB6-6189-9ECE01EB24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201" y="1315035"/>
            <a:ext cx="7599680" cy="3410856"/>
          </a:xfrm>
        </p:spPr>
        <p:txBody>
          <a:bodyPr>
            <a:normAutofit/>
          </a:bodyPr>
          <a:lstStyle/>
          <a:p>
            <a:r>
              <a:rPr lang="ru-RU" sz="2000" b="1" dirty="0"/>
              <a:t>Новички в личных финансах:</a:t>
            </a:r>
            <a:r>
              <a:rPr lang="ru-RU" sz="2000" dirty="0"/>
              <a:t>Простой старт, готовые шаблоны и подск</a:t>
            </a:r>
          </a:p>
          <a:p>
            <a:r>
              <a:rPr lang="ru-RU" sz="2000" b="1" dirty="0"/>
              <a:t>Студенты и специалисты: </a:t>
            </a:r>
            <a:r>
              <a:rPr lang="ru-RU" sz="2000" dirty="0"/>
              <a:t>Бюджеты на месяц/неделю, контроль счетов и дедлайнов. </a:t>
            </a:r>
          </a:p>
          <a:p>
            <a:r>
              <a:rPr lang="ru-RU" sz="2000" b="1" dirty="0"/>
              <a:t>Семьи:</a:t>
            </a:r>
            <a:r>
              <a:rPr lang="ru-RU" sz="2000" dirty="0"/>
              <a:t> Совместное планирование, прозрачность расходов и прио</a:t>
            </a:r>
            <a:endParaRPr lang="en-US" b="1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67A6AACC-076D-CA43-15AF-6EF500838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Целевая аудитория</a:t>
            </a:r>
          </a:p>
        </p:txBody>
      </p:sp>
    </p:spTree>
    <p:extLst>
      <p:ext uri="{BB962C8B-B14F-4D97-AF65-F5344CB8AC3E}">
        <p14:creationId xmlns:p14="http://schemas.microsoft.com/office/powerpoint/2010/main" val="1464977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1BCDE-4147-1CE7-D9E3-9902B6F5B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1E4E21-256C-0C29-8E3F-42914E574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B810A8-7EBB-449C-FC16-E5267E65BD9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Сформирована концепция «всё в одном» для ежедневного контроля. Spend-Wise снижает просрочки, делает бюджеты наглядными и отчётность простой. Готов к демонстрации с реальными экранами и экспортами PDF/CSV. </a:t>
            </a:r>
          </a:p>
        </p:txBody>
      </p:sp>
    </p:spTree>
    <p:extLst>
      <p:ext uri="{BB962C8B-B14F-4D97-AF65-F5344CB8AC3E}">
        <p14:creationId xmlns:p14="http://schemas.microsoft.com/office/powerpoint/2010/main" val="415153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/>
            <a:r>
              <a:rPr lang="ru-RU" sz="4400" dirty="0"/>
              <a:t>Спасибо</a:t>
            </a:r>
            <a:br>
              <a:rPr lang="ru-RU" sz="4400" dirty="0"/>
            </a:br>
            <a:r>
              <a:rPr lang="ru-RU" sz="4400" dirty="0"/>
              <a:t>за внимание!</a:t>
            </a:r>
            <a:endParaRPr lang="en-US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445834-34CB-F6E2-51BC-F26A92C144A1}"/>
              </a:ext>
            </a:extLst>
          </p:cNvPr>
          <p:cNvSpPr txBox="1"/>
          <p:nvPr/>
        </p:nvSpPr>
        <p:spPr>
          <a:xfrm>
            <a:off x="5982686" y="4653428"/>
            <a:ext cx="316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hamamalreshi2005@gmail.com</a:t>
            </a:r>
            <a:endParaRPr lang="ru-RU" dirty="0">
              <a:solidFill>
                <a:schemeClr val="bg1"/>
              </a:solidFill>
              <a:latin typeface="Golos Text" panose="020B0503020202020204" pitchFamily="34" charset="-52"/>
              <a:cs typeface="Golos Text" panose="020B0503020202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8649425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Тема1" id="{4DAE9245-FD5C-48A3-9F61-0C8FFBFAE07A}" vid="{20E0B42B-372D-46F0-B56F-89DFAD950D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5460</TotalTime>
  <Words>429</Words>
  <Application>Microsoft Office PowerPoint</Application>
  <PresentationFormat>عرض على الشاشة (16:9)</PresentationFormat>
  <Paragraphs>96</Paragraphs>
  <Slides>10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10</vt:i4>
      </vt:variant>
    </vt:vector>
  </HeadingPairs>
  <TitlesOfParts>
    <vt:vector size="16" baseType="lpstr">
      <vt:lpstr>ALS Gorizont Bold Expanded</vt:lpstr>
      <vt:lpstr>Arial</vt:lpstr>
      <vt:lpstr>Calibri</vt:lpstr>
      <vt:lpstr>Golos Text</vt:lpstr>
      <vt:lpstr>Golos Text DemiBold</vt:lpstr>
      <vt:lpstr>Тема1</vt:lpstr>
      <vt:lpstr>Приложение  «Spend-Wise»</vt:lpstr>
      <vt:lpstr>Содержание</vt:lpstr>
      <vt:lpstr>Проблема</vt:lpstr>
      <vt:lpstr>Решение - Spend-Wise</vt:lpstr>
      <vt:lpstr>Ключевые функции</vt:lpstr>
      <vt:lpstr>Прототип интерфейса</vt:lpstr>
      <vt:lpstr>  Сравнительный анализ</vt:lpstr>
      <vt:lpstr>Целевая аудитория</vt:lpstr>
      <vt:lpstr>Заключение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</dc:creator>
  <cp:lastModifiedBy>Hamam Alreshi</cp:lastModifiedBy>
  <cp:revision>105</cp:revision>
  <dcterms:created xsi:type="dcterms:W3CDTF">2014-06-27T12:30:22Z</dcterms:created>
  <dcterms:modified xsi:type="dcterms:W3CDTF">2025-10-30T06:34:06Z</dcterms:modified>
</cp:coreProperties>
</file>